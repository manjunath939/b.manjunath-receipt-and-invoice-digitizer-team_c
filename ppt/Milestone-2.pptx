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4" r:id="rId6"/>
    <p:sldId id="265" r:id="rId7"/>
    <p:sldId id="266" r:id="rId8"/>
    <p:sldId id="260" r:id="rId9"/>
    <p:sldId id="268" r:id="rId10"/>
    <p:sldId id="269" r:id="rId11"/>
    <p:sldId id="261" r:id="rId12"/>
    <p:sldId id="270" r:id="rId13"/>
    <p:sldId id="262" r:id="rId14"/>
    <p:sldId id="2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70" d="100"/>
          <a:sy n="70" d="100"/>
        </p:scale>
        <p:origin x="50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FBB97-E5BB-EB8D-F438-6C9F87ECE1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42EAB81-3A6B-26A7-0BF3-94FAAED413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84F44F5-B4B5-2C9C-4DF5-7B26E9394580}"/>
              </a:ext>
            </a:extLst>
          </p:cNvPr>
          <p:cNvSpPr>
            <a:spLocks noGrp="1"/>
          </p:cNvSpPr>
          <p:nvPr>
            <p:ph type="dt" sz="half" idx="10"/>
          </p:nvPr>
        </p:nvSpPr>
        <p:spPr/>
        <p:txBody>
          <a:bodyPr/>
          <a:lstStyle/>
          <a:p>
            <a:fld id="{BC432321-5E54-45C8-B388-004C8845608A}" type="datetimeFigureOut">
              <a:rPr lang="en-IN" smtClean="0"/>
              <a:t>12-02-2026</a:t>
            </a:fld>
            <a:endParaRPr lang="en-IN"/>
          </a:p>
        </p:txBody>
      </p:sp>
      <p:sp>
        <p:nvSpPr>
          <p:cNvPr id="5" name="Footer Placeholder 4">
            <a:extLst>
              <a:ext uri="{FF2B5EF4-FFF2-40B4-BE49-F238E27FC236}">
                <a16:creationId xmlns:a16="http://schemas.microsoft.com/office/drawing/2014/main" id="{73F50A64-C360-6D77-B510-96FA4AE38E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CB51AA-FE8C-030D-CCE9-07596E647EFE}"/>
              </a:ext>
            </a:extLst>
          </p:cNvPr>
          <p:cNvSpPr>
            <a:spLocks noGrp="1"/>
          </p:cNvSpPr>
          <p:nvPr>
            <p:ph type="sldNum" sz="quarter" idx="12"/>
          </p:nvPr>
        </p:nvSpPr>
        <p:spPr/>
        <p:txBody>
          <a:bodyPr/>
          <a:lstStyle/>
          <a:p>
            <a:fld id="{00382E31-2EFD-44DA-888E-49DE08FD1A32}" type="slidenum">
              <a:rPr lang="en-IN" smtClean="0"/>
              <a:t>‹#›</a:t>
            </a:fld>
            <a:endParaRPr lang="en-IN"/>
          </a:p>
        </p:txBody>
      </p:sp>
    </p:spTree>
    <p:extLst>
      <p:ext uri="{BB962C8B-B14F-4D97-AF65-F5344CB8AC3E}">
        <p14:creationId xmlns:p14="http://schemas.microsoft.com/office/powerpoint/2010/main" val="2755449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55007-A1D5-1EE9-EDC3-C6086417EF1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01CE2EF-8FB7-9A44-6B55-8C50F2361D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F6309F-0D23-10E0-09A6-50EAEF9CB2CF}"/>
              </a:ext>
            </a:extLst>
          </p:cNvPr>
          <p:cNvSpPr>
            <a:spLocks noGrp="1"/>
          </p:cNvSpPr>
          <p:nvPr>
            <p:ph type="dt" sz="half" idx="10"/>
          </p:nvPr>
        </p:nvSpPr>
        <p:spPr/>
        <p:txBody>
          <a:bodyPr/>
          <a:lstStyle/>
          <a:p>
            <a:fld id="{BC432321-5E54-45C8-B388-004C8845608A}" type="datetimeFigureOut">
              <a:rPr lang="en-IN" smtClean="0"/>
              <a:t>12-02-2026</a:t>
            </a:fld>
            <a:endParaRPr lang="en-IN"/>
          </a:p>
        </p:txBody>
      </p:sp>
      <p:sp>
        <p:nvSpPr>
          <p:cNvPr id="5" name="Footer Placeholder 4">
            <a:extLst>
              <a:ext uri="{FF2B5EF4-FFF2-40B4-BE49-F238E27FC236}">
                <a16:creationId xmlns:a16="http://schemas.microsoft.com/office/drawing/2014/main" id="{C01048D0-AAD0-47F7-EB43-9C138CC9EC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4BFB39-B313-C554-67C8-9894D7D5D5A3}"/>
              </a:ext>
            </a:extLst>
          </p:cNvPr>
          <p:cNvSpPr>
            <a:spLocks noGrp="1"/>
          </p:cNvSpPr>
          <p:nvPr>
            <p:ph type="sldNum" sz="quarter" idx="12"/>
          </p:nvPr>
        </p:nvSpPr>
        <p:spPr/>
        <p:txBody>
          <a:bodyPr/>
          <a:lstStyle/>
          <a:p>
            <a:fld id="{00382E31-2EFD-44DA-888E-49DE08FD1A32}" type="slidenum">
              <a:rPr lang="en-IN" smtClean="0"/>
              <a:t>‹#›</a:t>
            </a:fld>
            <a:endParaRPr lang="en-IN"/>
          </a:p>
        </p:txBody>
      </p:sp>
    </p:spTree>
    <p:extLst>
      <p:ext uri="{BB962C8B-B14F-4D97-AF65-F5344CB8AC3E}">
        <p14:creationId xmlns:p14="http://schemas.microsoft.com/office/powerpoint/2010/main" val="540076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EDE0B-D0A0-00C6-F26D-C9494DC46D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1580172-32A8-C57B-C988-02D620C4C8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393139-786C-EE1C-A21B-EFA05DE4360E}"/>
              </a:ext>
            </a:extLst>
          </p:cNvPr>
          <p:cNvSpPr>
            <a:spLocks noGrp="1"/>
          </p:cNvSpPr>
          <p:nvPr>
            <p:ph type="dt" sz="half" idx="10"/>
          </p:nvPr>
        </p:nvSpPr>
        <p:spPr/>
        <p:txBody>
          <a:bodyPr/>
          <a:lstStyle/>
          <a:p>
            <a:fld id="{BC432321-5E54-45C8-B388-004C8845608A}" type="datetimeFigureOut">
              <a:rPr lang="en-IN" smtClean="0"/>
              <a:t>12-02-2026</a:t>
            </a:fld>
            <a:endParaRPr lang="en-IN"/>
          </a:p>
        </p:txBody>
      </p:sp>
      <p:sp>
        <p:nvSpPr>
          <p:cNvPr id="5" name="Footer Placeholder 4">
            <a:extLst>
              <a:ext uri="{FF2B5EF4-FFF2-40B4-BE49-F238E27FC236}">
                <a16:creationId xmlns:a16="http://schemas.microsoft.com/office/drawing/2014/main" id="{C6A6832A-032C-1DEA-E466-90FC1288B7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049953-A0BB-7B98-4022-2243E10B9D01}"/>
              </a:ext>
            </a:extLst>
          </p:cNvPr>
          <p:cNvSpPr>
            <a:spLocks noGrp="1"/>
          </p:cNvSpPr>
          <p:nvPr>
            <p:ph type="sldNum" sz="quarter" idx="12"/>
          </p:nvPr>
        </p:nvSpPr>
        <p:spPr/>
        <p:txBody>
          <a:bodyPr/>
          <a:lstStyle/>
          <a:p>
            <a:fld id="{00382E31-2EFD-44DA-888E-49DE08FD1A32}" type="slidenum">
              <a:rPr lang="en-IN" smtClean="0"/>
              <a:t>‹#›</a:t>
            </a:fld>
            <a:endParaRPr lang="en-IN"/>
          </a:p>
        </p:txBody>
      </p:sp>
    </p:spTree>
    <p:extLst>
      <p:ext uri="{BB962C8B-B14F-4D97-AF65-F5344CB8AC3E}">
        <p14:creationId xmlns:p14="http://schemas.microsoft.com/office/powerpoint/2010/main" val="1697574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86787-E2D2-0AB6-F9FC-A42E368A271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07360E-0586-BEEB-09E0-59BD47A709D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0CBF5EA-E80E-53EC-1950-8A9A20D555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E238965-D862-D456-C49D-C59F8CC93CF2}"/>
              </a:ext>
            </a:extLst>
          </p:cNvPr>
          <p:cNvSpPr>
            <a:spLocks noGrp="1"/>
          </p:cNvSpPr>
          <p:nvPr>
            <p:ph type="dt" sz="half" idx="10"/>
          </p:nvPr>
        </p:nvSpPr>
        <p:spPr/>
        <p:txBody>
          <a:bodyPr/>
          <a:lstStyle/>
          <a:p>
            <a:fld id="{BC432321-5E54-45C8-B388-004C8845608A}" type="datetimeFigureOut">
              <a:rPr lang="en-IN" smtClean="0"/>
              <a:t>12-02-2026</a:t>
            </a:fld>
            <a:endParaRPr lang="en-IN"/>
          </a:p>
        </p:txBody>
      </p:sp>
      <p:sp>
        <p:nvSpPr>
          <p:cNvPr id="6" name="Footer Placeholder 5">
            <a:extLst>
              <a:ext uri="{FF2B5EF4-FFF2-40B4-BE49-F238E27FC236}">
                <a16:creationId xmlns:a16="http://schemas.microsoft.com/office/drawing/2014/main" id="{143D33B2-B11E-F7D2-1EEC-02E9EE47A89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3FA5FA-8443-1E8C-D3AA-D44512AFB8C9}"/>
              </a:ext>
            </a:extLst>
          </p:cNvPr>
          <p:cNvSpPr>
            <a:spLocks noGrp="1"/>
          </p:cNvSpPr>
          <p:nvPr>
            <p:ph type="sldNum" sz="quarter" idx="12"/>
          </p:nvPr>
        </p:nvSpPr>
        <p:spPr/>
        <p:txBody>
          <a:bodyPr/>
          <a:lstStyle/>
          <a:p>
            <a:fld id="{00382E31-2EFD-44DA-888E-49DE08FD1A32}" type="slidenum">
              <a:rPr lang="en-IN" smtClean="0"/>
              <a:t>‹#›</a:t>
            </a:fld>
            <a:endParaRPr lang="en-IN"/>
          </a:p>
        </p:txBody>
      </p:sp>
    </p:spTree>
    <p:extLst>
      <p:ext uri="{BB962C8B-B14F-4D97-AF65-F5344CB8AC3E}">
        <p14:creationId xmlns:p14="http://schemas.microsoft.com/office/powerpoint/2010/main" val="1981649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FAF36-792C-C7E5-2966-629CFD90368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A698E14-E4D5-2BAF-A19C-1F6D430566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66F3BE-30BD-1EE5-87D3-B381515BAD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087F795-6B1E-0ACE-1268-CB5642D323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DD4673E-EE14-4141-5C98-47CB49917F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845B226-085C-C2B5-A692-A97B3808805B}"/>
              </a:ext>
            </a:extLst>
          </p:cNvPr>
          <p:cNvSpPr>
            <a:spLocks noGrp="1"/>
          </p:cNvSpPr>
          <p:nvPr>
            <p:ph type="dt" sz="half" idx="10"/>
          </p:nvPr>
        </p:nvSpPr>
        <p:spPr/>
        <p:txBody>
          <a:bodyPr/>
          <a:lstStyle/>
          <a:p>
            <a:fld id="{BC432321-5E54-45C8-B388-004C8845608A}" type="datetimeFigureOut">
              <a:rPr lang="en-IN" smtClean="0"/>
              <a:t>12-02-2026</a:t>
            </a:fld>
            <a:endParaRPr lang="en-IN"/>
          </a:p>
        </p:txBody>
      </p:sp>
      <p:sp>
        <p:nvSpPr>
          <p:cNvPr id="8" name="Footer Placeholder 7">
            <a:extLst>
              <a:ext uri="{FF2B5EF4-FFF2-40B4-BE49-F238E27FC236}">
                <a16:creationId xmlns:a16="http://schemas.microsoft.com/office/drawing/2014/main" id="{F70BFB23-CAE7-2B8C-6F33-CF991C423F3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5BBD321-FABE-3EF7-6CF9-1A5D95759892}"/>
              </a:ext>
            </a:extLst>
          </p:cNvPr>
          <p:cNvSpPr>
            <a:spLocks noGrp="1"/>
          </p:cNvSpPr>
          <p:nvPr>
            <p:ph type="sldNum" sz="quarter" idx="12"/>
          </p:nvPr>
        </p:nvSpPr>
        <p:spPr/>
        <p:txBody>
          <a:bodyPr/>
          <a:lstStyle/>
          <a:p>
            <a:fld id="{00382E31-2EFD-44DA-888E-49DE08FD1A32}" type="slidenum">
              <a:rPr lang="en-IN" smtClean="0"/>
              <a:t>‹#›</a:t>
            </a:fld>
            <a:endParaRPr lang="en-IN"/>
          </a:p>
        </p:txBody>
      </p:sp>
    </p:spTree>
    <p:extLst>
      <p:ext uri="{BB962C8B-B14F-4D97-AF65-F5344CB8AC3E}">
        <p14:creationId xmlns:p14="http://schemas.microsoft.com/office/powerpoint/2010/main" val="2024202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C6477-1BB5-93EB-950A-F6BC2FE806C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006DC68-0579-FF39-77DA-01DD82EF011F}"/>
              </a:ext>
            </a:extLst>
          </p:cNvPr>
          <p:cNvSpPr>
            <a:spLocks noGrp="1"/>
          </p:cNvSpPr>
          <p:nvPr>
            <p:ph type="dt" sz="half" idx="10"/>
          </p:nvPr>
        </p:nvSpPr>
        <p:spPr/>
        <p:txBody>
          <a:bodyPr/>
          <a:lstStyle/>
          <a:p>
            <a:fld id="{BC432321-5E54-45C8-B388-004C8845608A}" type="datetimeFigureOut">
              <a:rPr lang="en-IN" smtClean="0"/>
              <a:t>12-02-2026</a:t>
            </a:fld>
            <a:endParaRPr lang="en-IN"/>
          </a:p>
        </p:txBody>
      </p:sp>
      <p:sp>
        <p:nvSpPr>
          <p:cNvPr id="4" name="Footer Placeholder 3">
            <a:extLst>
              <a:ext uri="{FF2B5EF4-FFF2-40B4-BE49-F238E27FC236}">
                <a16:creationId xmlns:a16="http://schemas.microsoft.com/office/drawing/2014/main" id="{3DBAA464-2D31-F560-5539-005D241C230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F14E144-0410-0A7E-5700-871B9A75D934}"/>
              </a:ext>
            </a:extLst>
          </p:cNvPr>
          <p:cNvSpPr>
            <a:spLocks noGrp="1"/>
          </p:cNvSpPr>
          <p:nvPr>
            <p:ph type="sldNum" sz="quarter" idx="12"/>
          </p:nvPr>
        </p:nvSpPr>
        <p:spPr/>
        <p:txBody>
          <a:bodyPr/>
          <a:lstStyle/>
          <a:p>
            <a:fld id="{00382E31-2EFD-44DA-888E-49DE08FD1A32}" type="slidenum">
              <a:rPr lang="en-IN" smtClean="0"/>
              <a:t>‹#›</a:t>
            </a:fld>
            <a:endParaRPr lang="en-IN"/>
          </a:p>
        </p:txBody>
      </p:sp>
    </p:spTree>
    <p:extLst>
      <p:ext uri="{BB962C8B-B14F-4D97-AF65-F5344CB8AC3E}">
        <p14:creationId xmlns:p14="http://schemas.microsoft.com/office/powerpoint/2010/main" val="1878941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74D1C5-6625-CD9D-F815-62061F2F9C88}"/>
              </a:ext>
            </a:extLst>
          </p:cNvPr>
          <p:cNvSpPr>
            <a:spLocks noGrp="1"/>
          </p:cNvSpPr>
          <p:nvPr>
            <p:ph type="dt" sz="half" idx="10"/>
          </p:nvPr>
        </p:nvSpPr>
        <p:spPr/>
        <p:txBody>
          <a:bodyPr/>
          <a:lstStyle/>
          <a:p>
            <a:fld id="{BC432321-5E54-45C8-B388-004C8845608A}" type="datetimeFigureOut">
              <a:rPr lang="en-IN" smtClean="0"/>
              <a:t>12-02-2026</a:t>
            </a:fld>
            <a:endParaRPr lang="en-IN"/>
          </a:p>
        </p:txBody>
      </p:sp>
      <p:sp>
        <p:nvSpPr>
          <p:cNvPr id="3" name="Footer Placeholder 2">
            <a:extLst>
              <a:ext uri="{FF2B5EF4-FFF2-40B4-BE49-F238E27FC236}">
                <a16:creationId xmlns:a16="http://schemas.microsoft.com/office/drawing/2014/main" id="{115C9632-23C7-6C4E-293A-FEE42386715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C92C17C-AE46-04B4-080C-E7B356319869}"/>
              </a:ext>
            </a:extLst>
          </p:cNvPr>
          <p:cNvSpPr>
            <a:spLocks noGrp="1"/>
          </p:cNvSpPr>
          <p:nvPr>
            <p:ph type="sldNum" sz="quarter" idx="12"/>
          </p:nvPr>
        </p:nvSpPr>
        <p:spPr/>
        <p:txBody>
          <a:bodyPr/>
          <a:lstStyle/>
          <a:p>
            <a:fld id="{00382E31-2EFD-44DA-888E-49DE08FD1A32}" type="slidenum">
              <a:rPr lang="en-IN" smtClean="0"/>
              <a:t>‹#›</a:t>
            </a:fld>
            <a:endParaRPr lang="en-IN"/>
          </a:p>
        </p:txBody>
      </p:sp>
    </p:spTree>
    <p:extLst>
      <p:ext uri="{BB962C8B-B14F-4D97-AF65-F5344CB8AC3E}">
        <p14:creationId xmlns:p14="http://schemas.microsoft.com/office/powerpoint/2010/main" val="15476332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D0217-B8D9-3A84-2762-6C7C0AB8C6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CC5FD06-C3C9-F5EB-238C-32BEC47B84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EC4CAA4-F528-1AD1-658C-E2E2043F81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63A943-5E5B-6F6E-B45E-E644BFDE287A}"/>
              </a:ext>
            </a:extLst>
          </p:cNvPr>
          <p:cNvSpPr>
            <a:spLocks noGrp="1"/>
          </p:cNvSpPr>
          <p:nvPr>
            <p:ph type="dt" sz="half" idx="10"/>
          </p:nvPr>
        </p:nvSpPr>
        <p:spPr/>
        <p:txBody>
          <a:bodyPr/>
          <a:lstStyle/>
          <a:p>
            <a:fld id="{BC432321-5E54-45C8-B388-004C8845608A}" type="datetimeFigureOut">
              <a:rPr lang="en-IN" smtClean="0"/>
              <a:t>12-02-2026</a:t>
            </a:fld>
            <a:endParaRPr lang="en-IN"/>
          </a:p>
        </p:txBody>
      </p:sp>
      <p:sp>
        <p:nvSpPr>
          <p:cNvPr id="6" name="Footer Placeholder 5">
            <a:extLst>
              <a:ext uri="{FF2B5EF4-FFF2-40B4-BE49-F238E27FC236}">
                <a16:creationId xmlns:a16="http://schemas.microsoft.com/office/drawing/2014/main" id="{A7713B5C-9567-EC13-12E3-38C92FBA4F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3C8D2D-B6AD-6C00-E2C4-BFFAAF085766}"/>
              </a:ext>
            </a:extLst>
          </p:cNvPr>
          <p:cNvSpPr>
            <a:spLocks noGrp="1"/>
          </p:cNvSpPr>
          <p:nvPr>
            <p:ph type="sldNum" sz="quarter" idx="12"/>
          </p:nvPr>
        </p:nvSpPr>
        <p:spPr/>
        <p:txBody>
          <a:bodyPr/>
          <a:lstStyle/>
          <a:p>
            <a:fld id="{00382E31-2EFD-44DA-888E-49DE08FD1A32}" type="slidenum">
              <a:rPr lang="en-IN" smtClean="0"/>
              <a:t>‹#›</a:t>
            </a:fld>
            <a:endParaRPr lang="en-IN"/>
          </a:p>
        </p:txBody>
      </p:sp>
    </p:spTree>
    <p:extLst>
      <p:ext uri="{BB962C8B-B14F-4D97-AF65-F5344CB8AC3E}">
        <p14:creationId xmlns:p14="http://schemas.microsoft.com/office/powerpoint/2010/main" val="2095416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0C318-4680-C52E-7D3B-2A29EA5703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4FC7EBC-AFFA-9F9C-E3F1-E09185E157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3B02155-646C-E0CE-BC73-3CA93DA284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A8EE8C-1421-FD4E-F1C0-9F9E764A1DE0}"/>
              </a:ext>
            </a:extLst>
          </p:cNvPr>
          <p:cNvSpPr>
            <a:spLocks noGrp="1"/>
          </p:cNvSpPr>
          <p:nvPr>
            <p:ph type="dt" sz="half" idx="10"/>
          </p:nvPr>
        </p:nvSpPr>
        <p:spPr/>
        <p:txBody>
          <a:bodyPr/>
          <a:lstStyle/>
          <a:p>
            <a:fld id="{BC432321-5E54-45C8-B388-004C8845608A}" type="datetimeFigureOut">
              <a:rPr lang="en-IN" smtClean="0"/>
              <a:t>12-02-2026</a:t>
            </a:fld>
            <a:endParaRPr lang="en-IN"/>
          </a:p>
        </p:txBody>
      </p:sp>
      <p:sp>
        <p:nvSpPr>
          <p:cNvPr id="6" name="Footer Placeholder 5">
            <a:extLst>
              <a:ext uri="{FF2B5EF4-FFF2-40B4-BE49-F238E27FC236}">
                <a16:creationId xmlns:a16="http://schemas.microsoft.com/office/drawing/2014/main" id="{C89C2D95-BE1B-A14B-A593-412F903228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AEF920-4E28-0DB5-E638-D80118FC1365}"/>
              </a:ext>
            </a:extLst>
          </p:cNvPr>
          <p:cNvSpPr>
            <a:spLocks noGrp="1"/>
          </p:cNvSpPr>
          <p:nvPr>
            <p:ph type="sldNum" sz="quarter" idx="12"/>
          </p:nvPr>
        </p:nvSpPr>
        <p:spPr/>
        <p:txBody>
          <a:bodyPr/>
          <a:lstStyle/>
          <a:p>
            <a:fld id="{00382E31-2EFD-44DA-888E-49DE08FD1A32}" type="slidenum">
              <a:rPr lang="en-IN" smtClean="0"/>
              <a:t>‹#›</a:t>
            </a:fld>
            <a:endParaRPr lang="en-IN"/>
          </a:p>
        </p:txBody>
      </p:sp>
    </p:spTree>
    <p:extLst>
      <p:ext uri="{BB962C8B-B14F-4D97-AF65-F5344CB8AC3E}">
        <p14:creationId xmlns:p14="http://schemas.microsoft.com/office/powerpoint/2010/main" val="1529073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1B77D-5C90-8134-5776-25127BDE4B6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B68664-7694-87F4-D752-9A1DF91C104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FD2CF9-C9A6-E235-F6E4-DB13CA5071EE}"/>
              </a:ext>
            </a:extLst>
          </p:cNvPr>
          <p:cNvSpPr>
            <a:spLocks noGrp="1"/>
          </p:cNvSpPr>
          <p:nvPr>
            <p:ph type="dt" sz="half" idx="10"/>
          </p:nvPr>
        </p:nvSpPr>
        <p:spPr/>
        <p:txBody>
          <a:bodyPr/>
          <a:lstStyle/>
          <a:p>
            <a:fld id="{BC432321-5E54-45C8-B388-004C8845608A}" type="datetimeFigureOut">
              <a:rPr lang="en-IN" smtClean="0"/>
              <a:t>12-02-2026</a:t>
            </a:fld>
            <a:endParaRPr lang="en-IN"/>
          </a:p>
        </p:txBody>
      </p:sp>
      <p:sp>
        <p:nvSpPr>
          <p:cNvPr id="5" name="Footer Placeholder 4">
            <a:extLst>
              <a:ext uri="{FF2B5EF4-FFF2-40B4-BE49-F238E27FC236}">
                <a16:creationId xmlns:a16="http://schemas.microsoft.com/office/drawing/2014/main" id="{A89329B3-1F54-C701-5CAA-BAB84BAE96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FF32BA-6F57-167B-9D15-7A477AE2C42E}"/>
              </a:ext>
            </a:extLst>
          </p:cNvPr>
          <p:cNvSpPr>
            <a:spLocks noGrp="1"/>
          </p:cNvSpPr>
          <p:nvPr>
            <p:ph type="sldNum" sz="quarter" idx="12"/>
          </p:nvPr>
        </p:nvSpPr>
        <p:spPr/>
        <p:txBody>
          <a:bodyPr/>
          <a:lstStyle/>
          <a:p>
            <a:fld id="{00382E31-2EFD-44DA-888E-49DE08FD1A32}" type="slidenum">
              <a:rPr lang="en-IN" smtClean="0"/>
              <a:t>‹#›</a:t>
            </a:fld>
            <a:endParaRPr lang="en-IN"/>
          </a:p>
        </p:txBody>
      </p:sp>
    </p:spTree>
    <p:extLst>
      <p:ext uri="{BB962C8B-B14F-4D97-AF65-F5344CB8AC3E}">
        <p14:creationId xmlns:p14="http://schemas.microsoft.com/office/powerpoint/2010/main" val="1782521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907058-88AC-0C5C-49A9-D757E03BB22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EA95C8B-64AF-EB73-C048-3523984578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B92564-4600-6EDB-4E6A-B016346032CD}"/>
              </a:ext>
            </a:extLst>
          </p:cNvPr>
          <p:cNvSpPr>
            <a:spLocks noGrp="1"/>
          </p:cNvSpPr>
          <p:nvPr>
            <p:ph type="dt" sz="half" idx="10"/>
          </p:nvPr>
        </p:nvSpPr>
        <p:spPr/>
        <p:txBody>
          <a:bodyPr/>
          <a:lstStyle/>
          <a:p>
            <a:fld id="{BC432321-5E54-45C8-B388-004C8845608A}" type="datetimeFigureOut">
              <a:rPr lang="en-IN" smtClean="0"/>
              <a:t>12-02-2026</a:t>
            </a:fld>
            <a:endParaRPr lang="en-IN"/>
          </a:p>
        </p:txBody>
      </p:sp>
      <p:sp>
        <p:nvSpPr>
          <p:cNvPr id="5" name="Footer Placeholder 4">
            <a:extLst>
              <a:ext uri="{FF2B5EF4-FFF2-40B4-BE49-F238E27FC236}">
                <a16:creationId xmlns:a16="http://schemas.microsoft.com/office/drawing/2014/main" id="{F4F58C57-9750-9C36-1994-912459B4FB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A41B9B-5C61-F3F4-81DB-015E14565087}"/>
              </a:ext>
            </a:extLst>
          </p:cNvPr>
          <p:cNvSpPr>
            <a:spLocks noGrp="1"/>
          </p:cNvSpPr>
          <p:nvPr>
            <p:ph type="sldNum" sz="quarter" idx="12"/>
          </p:nvPr>
        </p:nvSpPr>
        <p:spPr/>
        <p:txBody>
          <a:bodyPr/>
          <a:lstStyle/>
          <a:p>
            <a:fld id="{00382E31-2EFD-44DA-888E-49DE08FD1A32}" type="slidenum">
              <a:rPr lang="en-IN" smtClean="0"/>
              <a:t>‹#›</a:t>
            </a:fld>
            <a:endParaRPr lang="en-IN"/>
          </a:p>
        </p:txBody>
      </p:sp>
    </p:spTree>
    <p:extLst>
      <p:ext uri="{BB962C8B-B14F-4D97-AF65-F5344CB8AC3E}">
        <p14:creationId xmlns:p14="http://schemas.microsoft.com/office/powerpoint/2010/main" val="4235453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3BFD9F-EEA2-7815-27FB-22E4394E5B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76146F7-F1B5-A224-47AF-2880B8EDEA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FFE741-5631-1E22-12C6-EE82EC5BD5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432321-5E54-45C8-B388-004C8845608A}" type="datetimeFigureOut">
              <a:rPr lang="en-IN" smtClean="0"/>
              <a:t>12-02-2026</a:t>
            </a:fld>
            <a:endParaRPr lang="en-IN"/>
          </a:p>
        </p:txBody>
      </p:sp>
      <p:sp>
        <p:nvSpPr>
          <p:cNvPr id="5" name="Footer Placeholder 4">
            <a:extLst>
              <a:ext uri="{FF2B5EF4-FFF2-40B4-BE49-F238E27FC236}">
                <a16:creationId xmlns:a16="http://schemas.microsoft.com/office/drawing/2014/main" id="{F1D5134B-FBBC-275B-2203-CF2A7D8BF5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EFB0D0A-814A-2CBE-1209-511636EA77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382E31-2EFD-44DA-888E-49DE08FD1A32}" type="slidenum">
              <a:rPr lang="en-IN" smtClean="0"/>
              <a:t>‹#›</a:t>
            </a:fld>
            <a:endParaRPr lang="en-IN"/>
          </a:p>
        </p:txBody>
      </p:sp>
    </p:spTree>
    <p:extLst>
      <p:ext uri="{BB962C8B-B14F-4D97-AF65-F5344CB8AC3E}">
        <p14:creationId xmlns:p14="http://schemas.microsoft.com/office/powerpoint/2010/main" val="8732474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C7F08-9746-AF7A-3EB8-120EC3C411B1}"/>
              </a:ext>
            </a:extLst>
          </p:cNvPr>
          <p:cNvSpPr>
            <a:spLocks noGrp="1"/>
          </p:cNvSpPr>
          <p:nvPr>
            <p:ph type="ctrTitle"/>
          </p:nvPr>
        </p:nvSpPr>
        <p:spPr>
          <a:xfrm>
            <a:off x="1109932" y="-838709"/>
            <a:ext cx="9144000" cy="2387600"/>
          </a:xfrm>
        </p:spPr>
        <p:txBody>
          <a:bodyPr>
            <a:normAutofit fontScale="90000"/>
          </a:bodyPr>
          <a:lstStyle/>
          <a:p>
            <a:br>
              <a:rPr lang="en-US" dirty="0"/>
            </a:br>
            <a:br>
              <a:rPr lang="en-US" dirty="0"/>
            </a:br>
            <a:br>
              <a:rPr lang="en-US" dirty="0"/>
            </a:br>
            <a:br>
              <a:rPr lang="en-US" dirty="0"/>
            </a:br>
            <a:r>
              <a:rPr lang="en-US" dirty="0" err="1"/>
              <a:t>Reciept</a:t>
            </a:r>
            <a:r>
              <a:rPr lang="en-US" dirty="0"/>
              <a:t> and Invoice Digitizer</a:t>
            </a:r>
            <a:endParaRPr lang="en-IN" dirty="0"/>
          </a:p>
        </p:txBody>
      </p:sp>
      <p:sp>
        <p:nvSpPr>
          <p:cNvPr id="3" name="Subtitle 2">
            <a:extLst>
              <a:ext uri="{FF2B5EF4-FFF2-40B4-BE49-F238E27FC236}">
                <a16:creationId xmlns:a16="http://schemas.microsoft.com/office/drawing/2014/main" id="{18FCF334-C091-AAAD-65E9-62EF23F9A2C7}"/>
              </a:ext>
            </a:extLst>
          </p:cNvPr>
          <p:cNvSpPr>
            <a:spLocks noGrp="1"/>
          </p:cNvSpPr>
          <p:nvPr>
            <p:ph type="subTitle" idx="1"/>
          </p:nvPr>
        </p:nvSpPr>
        <p:spPr>
          <a:xfrm>
            <a:off x="46007" y="1548891"/>
            <a:ext cx="10627743" cy="5509403"/>
          </a:xfrm>
        </p:spPr>
        <p:txBody>
          <a:bodyPr/>
          <a:lstStyle/>
          <a:p>
            <a:r>
              <a:rPr lang="en-US" sz="4000" dirty="0"/>
              <a:t>Team-C</a:t>
            </a:r>
          </a:p>
          <a:p>
            <a:r>
              <a:rPr lang="en-US" sz="4000" dirty="0"/>
              <a:t>Team members:</a:t>
            </a:r>
          </a:p>
          <a:p>
            <a:r>
              <a:rPr lang="en-US" sz="4000" dirty="0"/>
              <a:t>Snehitha</a:t>
            </a:r>
          </a:p>
          <a:p>
            <a:r>
              <a:rPr lang="en-US" sz="4000" dirty="0"/>
              <a:t>Pranavi</a:t>
            </a:r>
          </a:p>
          <a:p>
            <a:r>
              <a:rPr lang="en-US" sz="4000" dirty="0"/>
              <a:t>Manjunath</a:t>
            </a:r>
          </a:p>
          <a:p>
            <a:r>
              <a:rPr lang="en-US" sz="4000" dirty="0"/>
              <a:t>Gnana Pravallika</a:t>
            </a:r>
          </a:p>
          <a:p>
            <a:r>
              <a:rPr lang="en-US" sz="4000" dirty="0"/>
              <a:t>Gayatri</a:t>
            </a:r>
          </a:p>
          <a:p>
            <a:endParaRPr lang="en-US" sz="4000" dirty="0"/>
          </a:p>
          <a:p>
            <a:endParaRPr lang="en-US" sz="4000" dirty="0"/>
          </a:p>
          <a:p>
            <a:endParaRPr lang="en-US" sz="4000" dirty="0"/>
          </a:p>
          <a:p>
            <a:endParaRPr lang="en-US" sz="4000" dirty="0"/>
          </a:p>
          <a:p>
            <a:endParaRPr lang="en-US" dirty="0"/>
          </a:p>
          <a:p>
            <a:endParaRPr lang="en-IN" dirty="0"/>
          </a:p>
        </p:txBody>
      </p:sp>
    </p:spTree>
    <p:extLst>
      <p:ext uri="{BB962C8B-B14F-4D97-AF65-F5344CB8AC3E}">
        <p14:creationId xmlns:p14="http://schemas.microsoft.com/office/powerpoint/2010/main" val="1717121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3737F-31EE-068E-00F8-C3DB0B22EB58}"/>
              </a:ext>
            </a:extLst>
          </p:cNvPr>
          <p:cNvSpPr>
            <a:spLocks noGrp="1"/>
          </p:cNvSpPr>
          <p:nvPr>
            <p:ph type="title"/>
          </p:nvPr>
        </p:nvSpPr>
        <p:spPr>
          <a:xfrm>
            <a:off x="1000125" y="204049"/>
            <a:ext cx="13173075" cy="1325563"/>
          </a:xfrm>
        </p:spPr>
        <p:txBody>
          <a:bodyPr/>
          <a:lstStyle/>
          <a:p>
            <a:r>
              <a:rPr lang="en-US" dirty="0"/>
              <a:t>                             Abstract</a:t>
            </a:r>
            <a:br>
              <a:rPr lang="en-US" dirty="0"/>
            </a:br>
            <a:endParaRPr lang="en-IN" dirty="0"/>
          </a:p>
        </p:txBody>
      </p:sp>
      <p:sp>
        <p:nvSpPr>
          <p:cNvPr id="4" name="Rectangle 1">
            <a:extLst>
              <a:ext uri="{FF2B5EF4-FFF2-40B4-BE49-F238E27FC236}">
                <a16:creationId xmlns:a16="http://schemas.microsoft.com/office/drawing/2014/main" id="{2FD5AB31-89BE-BAED-79B0-29A48CD8B541}"/>
              </a:ext>
            </a:extLst>
          </p:cNvPr>
          <p:cNvSpPr>
            <a:spLocks noChangeArrowheads="1"/>
          </p:cNvSpPr>
          <p:nvPr/>
        </p:nvSpPr>
        <p:spPr bwMode="auto">
          <a:xfrm>
            <a:off x="0" y="-3141541"/>
            <a:ext cx="184731" cy="6740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p:txBody>
      </p:sp>
      <p:sp>
        <p:nvSpPr>
          <p:cNvPr id="6" name="Rectangle 3">
            <a:extLst>
              <a:ext uri="{FF2B5EF4-FFF2-40B4-BE49-F238E27FC236}">
                <a16:creationId xmlns:a16="http://schemas.microsoft.com/office/drawing/2014/main" id="{CD0AEDEC-01D9-43C9-CEE4-C5913F3CC24A}"/>
              </a:ext>
            </a:extLst>
          </p:cNvPr>
          <p:cNvSpPr>
            <a:spLocks noChangeArrowheads="1"/>
          </p:cNvSpPr>
          <p:nvPr/>
        </p:nvSpPr>
        <p:spPr bwMode="auto">
          <a:xfrm>
            <a:off x="557841" y="1483305"/>
            <a:ext cx="10872159"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a:t>The </a:t>
            </a:r>
            <a:r>
              <a:rPr lang="en-US" sz="2000" i="1" dirty="0"/>
              <a:t>Receipt &amp; Invoice Digitizer </a:t>
            </a:r>
            <a:r>
              <a:rPr lang="en-US" sz="2000" dirty="0"/>
              <a:t>is a digital platform designed to simplify the management of financial receipts and invoices through automation and intelligent processing. In everyday business and personal finance, large volumes of paper and digital bills are generated, making manual organization difficult, time-consuming, and prone to errors. This project aims to provide a unified system where users can securely access, manage, and process their receipts in a structured manner.</a:t>
            </a:r>
          </a:p>
          <a:p>
            <a:r>
              <a:rPr lang="en-US" sz="2000" dirty="0"/>
              <a:t>The application provides a user-friendly interface consisting of authentication and dashboard modules that enable users to register, log in, and navigate the system efficiently. The platform is designed with a modular architecture so that advanced features such as document upload, Optical Character Recognition (OCR), and AI-based data extraction can be seamlessly integrated. Emphasis is placed on responsive design, input validation, and smooth user experience to ensure accessibility across devices.</a:t>
            </a:r>
          </a:p>
          <a:p>
            <a:r>
              <a:rPr lang="en-US" sz="2000" dirty="0"/>
              <a:t>By automating receipt handling and enabling digital record maintenance, </a:t>
            </a:r>
            <a:r>
              <a:rPr lang="en-US" sz="2000" dirty="0" err="1"/>
              <a:t>MydigiBill</a:t>
            </a:r>
            <a:r>
              <a:rPr lang="en-US" sz="2000" dirty="0"/>
              <a:t> reduces manual effort, improves accuracy, and supports better financial tracking. The project lays the foundation for future enhancements including intelligent expense categorization, analytics, and secure storage, ultimately helping users transition from paper-based billing to an organized digital ecosystem.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67228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3AE9046-1885-D933-1897-AA19930718C1}"/>
              </a:ext>
            </a:extLst>
          </p:cNvPr>
          <p:cNvSpPr>
            <a:spLocks noGrp="1" noChangeArrowheads="1"/>
          </p:cNvSpPr>
          <p:nvPr>
            <p:ph idx="1"/>
          </p:nvPr>
        </p:nvSpPr>
        <p:spPr bwMode="auto">
          <a:xfrm>
            <a:off x="395287" y="366623"/>
            <a:ext cx="11401425"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 Tasks for This Milestone</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Designed and implemented </a:t>
            </a:r>
            <a:r>
              <a:rPr kumimoji="0" lang="en-US" altLang="en-US" b="1" i="0" u="none" strike="noStrike" cap="none" normalizeH="0" baseline="0" dirty="0">
                <a:ln>
                  <a:noFill/>
                </a:ln>
                <a:solidFill>
                  <a:schemeClr val="tx1"/>
                </a:solidFill>
                <a:effectLst/>
                <a:latin typeface="Arial" panose="020B0604020202020204" pitchFamily="34" charset="0"/>
              </a:rPr>
              <a:t>User Registration Page</a:t>
            </a:r>
            <a:r>
              <a:rPr kumimoji="0" lang="en-US" altLang="en-US" b="0" i="0" u="none" strike="noStrike" cap="none" normalizeH="0" baseline="0" dirty="0">
                <a:ln>
                  <a:noFill/>
                </a:ln>
                <a:solidFill>
                  <a:schemeClr val="tx1"/>
                </a:solidFill>
                <a:effectLst/>
                <a:latin typeface="Arial" panose="020B0604020202020204" pitchFamily="34" charset="0"/>
              </a:rPr>
              <a:t> with form validation for email, password strength, and mandatory fields</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 Developed </a:t>
            </a:r>
            <a:r>
              <a:rPr kumimoji="0" lang="en-US" altLang="en-US" b="1" i="0" u="none" strike="noStrike" cap="none" normalizeH="0" baseline="0" dirty="0">
                <a:ln>
                  <a:noFill/>
                </a:ln>
                <a:solidFill>
                  <a:schemeClr val="tx1"/>
                </a:solidFill>
                <a:effectLst/>
                <a:latin typeface="Arial" panose="020B0604020202020204" pitchFamily="34" charset="0"/>
              </a:rPr>
              <a:t>Login Page</a:t>
            </a:r>
            <a:r>
              <a:rPr kumimoji="0" lang="en-US" altLang="en-US" b="0" i="0" u="none" strike="noStrike" cap="none" normalizeH="0" baseline="0" dirty="0">
                <a:ln>
                  <a:noFill/>
                </a:ln>
                <a:solidFill>
                  <a:schemeClr val="tx1"/>
                </a:solidFill>
                <a:effectLst/>
                <a:latin typeface="Arial" panose="020B0604020202020204" pitchFamily="34" charset="0"/>
              </a:rPr>
              <a:t> with proper error handling and credential verification</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 Implemented </a:t>
            </a:r>
            <a:r>
              <a:rPr kumimoji="0" lang="en-US" altLang="en-US" b="1" i="0" u="none" strike="noStrike" cap="none" normalizeH="0" baseline="0" dirty="0">
                <a:ln>
                  <a:noFill/>
                </a:ln>
                <a:solidFill>
                  <a:schemeClr val="tx1"/>
                </a:solidFill>
                <a:effectLst/>
                <a:latin typeface="Arial" panose="020B0604020202020204" pitchFamily="34" charset="0"/>
              </a:rPr>
              <a:t>Password Hashing</a:t>
            </a:r>
            <a:r>
              <a:rPr kumimoji="0" lang="en-US" altLang="en-US" b="0" i="0" u="none" strike="noStrike" cap="none" normalizeH="0" baseline="0" dirty="0">
                <a:ln>
                  <a:noFill/>
                </a:ln>
                <a:solidFill>
                  <a:schemeClr val="tx1"/>
                </a:solidFill>
                <a:effectLst/>
                <a:latin typeface="Arial" panose="020B0604020202020204" pitchFamily="34" charset="0"/>
              </a:rPr>
              <a:t> using secure cryptographic algorithms to store credentials safely</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 Implemented </a:t>
            </a:r>
            <a:r>
              <a:rPr kumimoji="0" lang="en-US" altLang="en-US" b="1" i="0" u="none" strike="noStrike" cap="none" normalizeH="0" baseline="0" dirty="0">
                <a:ln>
                  <a:noFill/>
                </a:ln>
                <a:solidFill>
                  <a:schemeClr val="tx1"/>
                </a:solidFill>
                <a:effectLst/>
                <a:latin typeface="Arial" panose="020B0604020202020204" pitchFamily="34" charset="0"/>
              </a:rPr>
              <a:t>Google OAuth Authentication</a:t>
            </a:r>
            <a:r>
              <a:rPr kumimoji="0" lang="en-US" altLang="en-US" b="0" i="0" u="none" strike="noStrike" cap="none" normalizeH="0" baseline="0" dirty="0">
                <a:ln>
                  <a:noFill/>
                </a:ln>
                <a:solidFill>
                  <a:schemeClr val="tx1"/>
                </a:solidFill>
                <a:effectLst/>
                <a:latin typeface="Arial" panose="020B0604020202020204" pitchFamily="34" charset="0"/>
              </a:rPr>
              <a:t> using Google Cloud Console and OAuth 2.0 API</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 Configured OAuth Client ID, redirect URIs, and consent screen for “Login with Google” feature</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 Created a basic </a:t>
            </a:r>
            <a:r>
              <a:rPr kumimoji="0" lang="en-US" altLang="en-US" b="1" i="0" u="none" strike="noStrike" cap="none" normalizeH="0" baseline="0" dirty="0">
                <a:ln>
                  <a:noFill/>
                </a:ln>
                <a:solidFill>
                  <a:schemeClr val="tx1"/>
                </a:solidFill>
                <a:effectLst/>
                <a:latin typeface="Arial" panose="020B0604020202020204" pitchFamily="34" charset="0"/>
              </a:rPr>
              <a:t>Dashboard Interface</a:t>
            </a:r>
            <a:r>
              <a:rPr kumimoji="0" lang="en-US" altLang="en-US" b="0" i="0" u="none" strike="noStrike" cap="none" normalizeH="0" baseline="0" dirty="0">
                <a:ln>
                  <a:noFill/>
                </a:ln>
                <a:solidFill>
                  <a:schemeClr val="tx1"/>
                </a:solidFill>
                <a:effectLst/>
                <a:latin typeface="Arial" panose="020B0604020202020204" pitchFamily="34" charset="0"/>
              </a:rPr>
              <a:t> accessible only after successful authentication</a:t>
            </a:r>
            <a:br>
              <a:rPr kumimoji="0" lang="en-US" altLang="en-US" b="0" i="0" u="none" strike="noStrike" cap="none" normalizeH="0" baseline="0" dirty="0">
                <a:ln>
                  <a:noFill/>
                </a:ln>
                <a:solidFill>
                  <a:schemeClr val="tx1"/>
                </a:solidFill>
                <a:effectLst/>
                <a:latin typeface="Arial" panose="020B0604020202020204" pitchFamily="34" charset="0"/>
              </a:rPr>
            </a:b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02245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AA77F-3FC1-C0A2-2EB1-9B96DBFCF08E}"/>
              </a:ext>
            </a:extLst>
          </p:cNvPr>
          <p:cNvSpPr>
            <a:spLocks noGrp="1"/>
          </p:cNvSpPr>
          <p:nvPr>
            <p:ph type="title"/>
          </p:nvPr>
        </p:nvSpPr>
        <p:spPr>
          <a:xfrm>
            <a:off x="4144992" y="94831"/>
            <a:ext cx="3423880" cy="1325563"/>
          </a:xfrm>
        </p:spPr>
        <p:txBody>
          <a:bodyPr/>
          <a:lstStyle/>
          <a:p>
            <a:r>
              <a:rPr lang="en-US" dirty="0"/>
              <a:t>Tech stack </a:t>
            </a:r>
            <a:endParaRPr lang="en-IN" dirty="0"/>
          </a:p>
        </p:txBody>
      </p:sp>
      <p:sp>
        <p:nvSpPr>
          <p:cNvPr id="4" name="Rectangle 1">
            <a:extLst>
              <a:ext uri="{FF2B5EF4-FFF2-40B4-BE49-F238E27FC236}">
                <a16:creationId xmlns:a16="http://schemas.microsoft.com/office/drawing/2014/main" id="{13B53A69-EF7F-C05E-971C-6ABF812F82A8}"/>
              </a:ext>
            </a:extLst>
          </p:cNvPr>
          <p:cNvSpPr>
            <a:spLocks noGrp="1" noChangeArrowheads="1"/>
          </p:cNvSpPr>
          <p:nvPr>
            <p:ph idx="1"/>
          </p:nvPr>
        </p:nvSpPr>
        <p:spPr bwMode="auto">
          <a:xfrm>
            <a:off x="1171755" y="1257127"/>
            <a:ext cx="8840638"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Frontend:</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 HTML5</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 CSS3</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 JavaScript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Backend:</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 Flask (Python)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Database:</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 MySQL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Authentication &amp; Security:</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 Password Hashing (</a:t>
            </a:r>
            <a:r>
              <a:rPr kumimoji="0" lang="en-US" altLang="en-US" sz="2000" b="0" i="0" u="none" strike="noStrike" cap="none" normalizeH="0" baseline="0" dirty="0" err="1">
                <a:ln>
                  <a:noFill/>
                </a:ln>
                <a:solidFill>
                  <a:schemeClr val="tx1"/>
                </a:solidFill>
                <a:effectLst/>
                <a:latin typeface="Arial" panose="020B0604020202020204" pitchFamily="34" charset="0"/>
              </a:rPr>
              <a:t>bcrypt</a:t>
            </a:r>
            <a:r>
              <a:rPr kumimoji="0" lang="en-US" altLang="en-US" sz="2000" b="0" i="0" u="none" strike="noStrike" cap="none" normalizeH="0" baseline="0" dirty="0">
                <a:ln>
                  <a:noFill/>
                </a:ln>
                <a:solidFill>
                  <a:schemeClr val="tx1"/>
                </a:solidFill>
                <a:effectLst/>
                <a:latin typeface="Arial" panose="020B0604020202020204" pitchFamily="34" charset="0"/>
              </a:rPr>
              <a:t>)</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 JSON Web Tokens (JWT)</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 Google OAuth 2.0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Tools &amp; Platforms:</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 Google Cloud Console</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 Git &amp; GitHub</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 VS Code</a:t>
            </a:r>
          </a:p>
        </p:txBody>
      </p:sp>
    </p:spTree>
    <p:extLst>
      <p:ext uri="{BB962C8B-B14F-4D97-AF65-F5344CB8AC3E}">
        <p14:creationId xmlns:p14="http://schemas.microsoft.com/office/powerpoint/2010/main" val="269608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8CBED-2701-8FDC-22F0-3BA223B6D14A}"/>
              </a:ext>
            </a:extLst>
          </p:cNvPr>
          <p:cNvSpPr>
            <a:spLocks noGrp="1"/>
          </p:cNvSpPr>
          <p:nvPr>
            <p:ph type="title"/>
          </p:nvPr>
        </p:nvSpPr>
        <p:spPr/>
        <p:txBody>
          <a:bodyPr/>
          <a:lstStyle/>
          <a:p>
            <a:r>
              <a:rPr lang="en-US" altLang="en-US" b="1" dirty="0">
                <a:latin typeface="Arial" panose="020B0604020202020204" pitchFamily="34" charset="0"/>
              </a:rPr>
              <a:t>            JWT Authentication</a:t>
            </a:r>
            <a:br>
              <a:rPr lang="en-US" altLang="en-US" dirty="0">
                <a:latin typeface="Arial" panose="020B0604020202020204" pitchFamily="34" charset="0"/>
              </a:rPr>
            </a:br>
            <a:endParaRPr lang="en-IN" dirty="0"/>
          </a:p>
        </p:txBody>
      </p:sp>
      <p:sp>
        <p:nvSpPr>
          <p:cNvPr id="4" name="Rectangle 1">
            <a:extLst>
              <a:ext uri="{FF2B5EF4-FFF2-40B4-BE49-F238E27FC236}">
                <a16:creationId xmlns:a16="http://schemas.microsoft.com/office/drawing/2014/main" id="{6060036C-9C24-0DF7-0BCB-C8A80E4F64D5}"/>
              </a:ext>
            </a:extLst>
          </p:cNvPr>
          <p:cNvSpPr>
            <a:spLocks noGrp="1" noChangeArrowheads="1"/>
          </p:cNvSpPr>
          <p:nvPr>
            <p:ph idx="1"/>
          </p:nvPr>
        </p:nvSpPr>
        <p:spPr bwMode="auto">
          <a:xfrm>
            <a:off x="838200" y="2090172"/>
            <a:ext cx="92837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Used for secure, stateless session management</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 Generated after successful login</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 Contains user identity (payload)</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 Sent with every protected request</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 Verified before granting dashboard access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Benefit:</a:t>
            </a:r>
            <a:r>
              <a:rPr kumimoji="0" lang="en-US" altLang="en-US" b="0" i="0" u="none" strike="noStrike" cap="none" normalizeH="0" baseline="0" dirty="0">
                <a:ln>
                  <a:noFill/>
                </a:ln>
                <a:solidFill>
                  <a:schemeClr val="tx1"/>
                </a:solidFill>
                <a:effectLst/>
                <a:latin typeface="Arial" panose="020B0604020202020204" pitchFamily="34" charset="0"/>
              </a:rPr>
              <a:t> Secure and scalable authentication</a:t>
            </a:r>
          </a:p>
        </p:txBody>
      </p:sp>
    </p:spTree>
    <p:extLst>
      <p:ext uri="{BB962C8B-B14F-4D97-AF65-F5344CB8AC3E}">
        <p14:creationId xmlns:p14="http://schemas.microsoft.com/office/powerpoint/2010/main" val="3212524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D1F7CE9E-7AC0-8D4B-A2B8-8211844FEEEF}"/>
              </a:ext>
            </a:extLst>
          </p:cNvPr>
          <p:cNvSpPr>
            <a:spLocks noChangeArrowheads="1"/>
          </p:cNvSpPr>
          <p:nvPr/>
        </p:nvSpPr>
        <p:spPr bwMode="auto">
          <a:xfrm>
            <a:off x="1562100" y="-2890077"/>
            <a:ext cx="7924800" cy="7786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8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8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8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8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000" b="1" i="0" u="none" strike="noStrike" cap="none" normalizeH="0" baseline="0" dirty="0">
                <a:ln>
                  <a:noFill/>
                </a:ln>
                <a:solidFill>
                  <a:schemeClr val="tx1"/>
                </a:solidFill>
                <a:effectLst/>
                <a:latin typeface="Arial" panose="020B0604020202020204" pitchFamily="34" charset="0"/>
              </a:rPr>
              <a:t>Login Page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 Email &amp; password input</a:t>
            </a:r>
            <a:br>
              <a:rPr kumimoji="0" lang="en-US" altLang="en-US" sz="2800" b="0" i="0" u="none" strike="noStrike" cap="none" normalizeH="0" baseline="0" dirty="0">
                <a:ln>
                  <a:noFill/>
                </a:ln>
                <a:solidFill>
                  <a:schemeClr val="tx1"/>
                </a:solidFill>
                <a:effectLst/>
                <a:latin typeface="Arial" panose="020B0604020202020204" pitchFamily="34" charset="0"/>
              </a:rPr>
            </a:br>
            <a:r>
              <a:rPr kumimoji="0" lang="en-US" altLang="en-US" sz="2800" b="0" i="0" u="none" strike="noStrike" cap="none" normalizeH="0" baseline="0" dirty="0">
                <a:ln>
                  <a:noFill/>
                </a:ln>
                <a:solidFill>
                  <a:schemeClr val="tx1"/>
                </a:solidFill>
                <a:effectLst/>
                <a:latin typeface="Arial" panose="020B0604020202020204" pitchFamily="34" charset="0"/>
              </a:rPr>
              <a:t>• Client-side validation</a:t>
            </a:r>
            <a:br>
              <a:rPr kumimoji="0" lang="en-US" altLang="en-US" sz="2800" b="0" i="0" u="none" strike="noStrike" cap="none" normalizeH="0" baseline="0" dirty="0">
                <a:ln>
                  <a:noFill/>
                </a:ln>
                <a:solidFill>
                  <a:schemeClr val="tx1"/>
                </a:solidFill>
                <a:effectLst/>
                <a:latin typeface="Arial" panose="020B0604020202020204" pitchFamily="34" charset="0"/>
              </a:rPr>
            </a:br>
            <a:r>
              <a:rPr kumimoji="0" lang="en-US" altLang="en-US" sz="2800" b="0" i="0" u="none" strike="noStrike" cap="none" normalizeH="0" baseline="0" dirty="0">
                <a:ln>
                  <a:noFill/>
                </a:ln>
                <a:solidFill>
                  <a:schemeClr val="tx1"/>
                </a:solidFill>
                <a:effectLst/>
                <a:latin typeface="Arial" panose="020B0604020202020204" pitchFamily="34" charset="0"/>
              </a:rPr>
              <a:t>• Hashed password verification</a:t>
            </a:r>
            <a:br>
              <a:rPr kumimoji="0" lang="en-US" altLang="en-US" sz="2800" b="0" i="0" u="none" strike="noStrike" cap="none" normalizeH="0" baseline="0" dirty="0">
                <a:ln>
                  <a:noFill/>
                </a:ln>
                <a:solidFill>
                  <a:schemeClr val="tx1"/>
                </a:solidFill>
                <a:effectLst/>
                <a:latin typeface="Arial" panose="020B0604020202020204" pitchFamily="34" charset="0"/>
              </a:rPr>
            </a:br>
            <a:r>
              <a:rPr kumimoji="0" lang="en-US" altLang="en-US" sz="2800" b="0" i="0" u="none" strike="noStrike" cap="none" normalizeH="0" baseline="0" dirty="0">
                <a:ln>
                  <a:noFill/>
                </a:ln>
                <a:solidFill>
                  <a:schemeClr val="tx1"/>
                </a:solidFill>
                <a:effectLst/>
                <a:latin typeface="Arial" panose="020B0604020202020204" pitchFamily="34" charset="0"/>
              </a:rPr>
              <a:t>• JWT generated on success</a:t>
            </a:r>
            <a:br>
              <a:rPr kumimoji="0" lang="en-US" altLang="en-US" sz="2800" b="0" i="0" u="none" strike="noStrike" cap="none" normalizeH="0" baseline="0" dirty="0">
                <a:ln>
                  <a:noFill/>
                </a:ln>
                <a:solidFill>
                  <a:schemeClr val="tx1"/>
                </a:solidFill>
                <a:effectLst/>
                <a:latin typeface="Arial" panose="020B0604020202020204" pitchFamily="34" charset="0"/>
              </a:rPr>
            </a:br>
            <a:r>
              <a:rPr kumimoji="0" lang="en-US" altLang="en-US" sz="2800" b="0" i="0" u="none" strike="noStrike" cap="none" normalizeH="0" baseline="0" dirty="0">
                <a:ln>
                  <a:noFill/>
                </a:ln>
                <a:solidFill>
                  <a:schemeClr val="tx1"/>
                </a:solidFill>
                <a:effectLst/>
                <a:latin typeface="Arial" panose="020B0604020202020204" pitchFamily="34" charset="0"/>
              </a:rPr>
              <a:t>• Google OAuth login option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rPr>
              <a:t>Outcome:</a:t>
            </a:r>
            <a:r>
              <a:rPr kumimoji="0" lang="en-US" altLang="en-US" sz="2800" b="0" i="0" u="none" strike="noStrike" cap="none" normalizeH="0" baseline="0" dirty="0">
                <a:ln>
                  <a:noFill/>
                </a:ln>
                <a:solidFill>
                  <a:schemeClr val="tx1"/>
                </a:solidFill>
                <a:effectLst/>
                <a:latin typeface="Arial" panose="020B0604020202020204" pitchFamily="34" charset="0"/>
              </a:rPr>
              <a:t> Only authenticated users access dashboard</a:t>
            </a:r>
          </a:p>
        </p:txBody>
      </p:sp>
    </p:spTree>
    <p:extLst>
      <p:ext uri="{BB962C8B-B14F-4D97-AF65-F5344CB8AC3E}">
        <p14:creationId xmlns:p14="http://schemas.microsoft.com/office/powerpoint/2010/main" val="1551197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6C85C5EB-C4A2-7F19-0E1F-3DA9C534CE38}"/>
              </a:ext>
            </a:extLst>
          </p:cNvPr>
          <p:cNvSpPr>
            <a:spLocks noChangeArrowheads="1"/>
          </p:cNvSpPr>
          <p:nvPr/>
        </p:nvSpPr>
        <p:spPr bwMode="auto">
          <a:xfrm>
            <a:off x="1673525" y="479758"/>
            <a:ext cx="7243633"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chemeClr val="tx1"/>
                </a:solidFill>
                <a:effectLst/>
                <a:latin typeface="Arial" panose="020B0604020202020204" pitchFamily="34" charset="0"/>
              </a:rPr>
              <a:t>Register Page</a:t>
            </a:r>
          </a:p>
          <a:p>
            <a:pPr marL="0" marR="0" lvl="0" indent="0" algn="ctr" defTabSz="914400" rtl="0" eaLnBrk="0" fontAlgn="base" latinLnBrk="0" hangingPunct="0">
              <a:lnSpc>
                <a:spcPct val="100000"/>
              </a:lnSpc>
              <a:spcBef>
                <a:spcPct val="0"/>
              </a:spcBef>
              <a:spcAft>
                <a:spcPct val="0"/>
              </a:spcAft>
              <a:buClrTx/>
              <a:buSzTx/>
              <a:buFontTx/>
              <a:buNone/>
              <a:tabLst/>
            </a:pPr>
            <a:endParaRPr lang="en-US" altLang="en-US" sz="3600" b="1" dirty="0">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 Name, email, password fields</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Password strength validation</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Duplicate email check</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Password hashing before storage</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Outcome:</a:t>
            </a:r>
            <a:r>
              <a:rPr kumimoji="0" lang="en-US" altLang="en-US" sz="2400" b="0" i="0" u="none" strike="noStrike" cap="none" normalizeH="0" baseline="0" dirty="0">
                <a:ln>
                  <a:noFill/>
                </a:ln>
                <a:solidFill>
                  <a:schemeClr val="tx1"/>
                </a:solidFill>
                <a:effectLst/>
                <a:latin typeface="Arial" panose="020B0604020202020204" pitchFamily="34" charset="0"/>
              </a:rPr>
              <a:t> Secure user account creation</a:t>
            </a:r>
          </a:p>
        </p:txBody>
      </p:sp>
    </p:spTree>
    <p:extLst>
      <p:ext uri="{BB962C8B-B14F-4D97-AF65-F5344CB8AC3E}">
        <p14:creationId xmlns:p14="http://schemas.microsoft.com/office/powerpoint/2010/main" val="4246675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FA1BFE-45DB-46D9-0B1A-88B7FB3A31B0}"/>
              </a:ext>
            </a:extLst>
          </p:cNvPr>
          <p:cNvSpPr>
            <a:spLocks noGrp="1"/>
          </p:cNvSpPr>
          <p:nvPr>
            <p:ph type="title"/>
          </p:nvPr>
        </p:nvSpPr>
        <p:spPr>
          <a:xfrm>
            <a:off x="942002" y="209677"/>
            <a:ext cx="10515600" cy="1325563"/>
          </a:xfrm>
        </p:spPr>
        <p:txBody>
          <a:bodyPr/>
          <a:lstStyle/>
          <a:p>
            <a:r>
              <a:rPr lang="en-US" dirty="0"/>
              <a:t>OUTPUT SCREENS</a:t>
            </a:r>
            <a:endParaRPr lang="en-IN" dirty="0"/>
          </a:p>
        </p:txBody>
      </p:sp>
      <p:pic>
        <p:nvPicPr>
          <p:cNvPr id="18" name="Content Placeholder 17">
            <a:extLst>
              <a:ext uri="{FF2B5EF4-FFF2-40B4-BE49-F238E27FC236}">
                <a16:creationId xmlns:a16="http://schemas.microsoft.com/office/drawing/2014/main" id="{444DBC32-725E-75E5-80CF-2473A854AC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59536" y="1535240"/>
            <a:ext cx="3712634" cy="2038440"/>
          </a:xfrm>
        </p:spPr>
      </p:pic>
      <p:pic>
        <p:nvPicPr>
          <p:cNvPr id="20" name="Picture 19">
            <a:extLst>
              <a:ext uri="{FF2B5EF4-FFF2-40B4-BE49-F238E27FC236}">
                <a16:creationId xmlns:a16="http://schemas.microsoft.com/office/drawing/2014/main" id="{735604D9-366D-B599-73BE-38910456D9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3832" y="1416750"/>
            <a:ext cx="3885354" cy="2156930"/>
          </a:xfrm>
          <a:prstGeom prst="rect">
            <a:avLst/>
          </a:prstGeom>
        </p:spPr>
      </p:pic>
      <p:pic>
        <p:nvPicPr>
          <p:cNvPr id="22" name="Picture 21">
            <a:extLst>
              <a:ext uri="{FF2B5EF4-FFF2-40B4-BE49-F238E27FC236}">
                <a16:creationId xmlns:a16="http://schemas.microsoft.com/office/drawing/2014/main" id="{6ABB0638-901B-8B07-20E2-1970DC0040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63240" y="3720851"/>
            <a:ext cx="5637578" cy="3203818"/>
          </a:xfrm>
          <a:prstGeom prst="rect">
            <a:avLst/>
          </a:prstGeom>
        </p:spPr>
      </p:pic>
    </p:spTree>
    <p:extLst>
      <p:ext uri="{BB962C8B-B14F-4D97-AF65-F5344CB8AC3E}">
        <p14:creationId xmlns:p14="http://schemas.microsoft.com/office/powerpoint/2010/main" val="38843698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F8B8E-AD92-FC1A-78D6-7991993A40EF}"/>
              </a:ext>
            </a:extLst>
          </p:cNvPr>
          <p:cNvSpPr>
            <a:spLocks noGrp="1"/>
          </p:cNvSpPr>
          <p:nvPr>
            <p:ph type="title"/>
          </p:nvPr>
        </p:nvSpPr>
        <p:spPr/>
        <p:txBody>
          <a:bodyPr/>
          <a:lstStyle/>
          <a:p>
            <a:r>
              <a:rPr lang="en-US" dirty="0"/>
              <a:t>OUTPUT SCREENS</a:t>
            </a:r>
            <a:endParaRPr lang="en-IN" dirty="0"/>
          </a:p>
        </p:txBody>
      </p:sp>
      <p:pic>
        <p:nvPicPr>
          <p:cNvPr id="5" name="Content Placeholder 4">
            <a:extLst>
              <a:ext uri="{FF2B5EF4-FFF2-40B4-BE49-F238E27FC236}">
                <a16:creationId xmlns:a16="http://schemas.microsoft.com/office/drawing/2014/main" id="{D7841C04-2604-3CBF-21D4-70A2ED62674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8"/>
            <a:ext cx="3758829" cy="2195249"/>
          </a:xfrm>
        </p:spPr>
      </p:pic>
      <p:pic>
        <p:nvPicPr>
          <p:cNvPr id="7" name="Picture 6">
            <a:extLst>
              <a:ext uri="{FF2B5EF4-FFF2-40B4-BE49-F238E27FC236}">
                <a16:creationId xmlns:a16="http://schemas.microsoft.com/office/drawing/2014/main" id="{671E7C30-71CD-78D6-57EC-2847410101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31433" y="1264233"/>
            <a:ext cx="3843563" cy="2621704"/>
          </a:xfrm>
          <a:prstGeom prst="rect">
            <a:avLst/>
          </a:prstGeom>
        </p:spPr>
      </p:pic>
    </p:spTree>
    <p:extLst>
      <p:ext uri="{BB962C8B-B14F-4D97-AF65-F5344CB8AC3E}">
        <p14:creationId xmlns:p14="http://schemas.microsoft.com/office/powerpoint/2010/main" val="1557010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87441-76C1-2F75-9B3D-821046ED1BB2}"/>
              </a:ext>
            </a:extLst>
          </p:cNvPr>
          <p:cNvSpPr>
            <a:spLocks noGrp="1"/>
          </p:cNvSpPr>
          <p:nvPr>
            <p:ph type="title"/>
          </p:nvPr>
        </p:nvSpPr>
        <p:spPr/>
        <p:txBody>
          <a:bodyPr/>
          <a:lstStyle/>
          <a:p>
            <a:r>
              <a:rPr lang="en-US" dirty="0"/>
              <a:t>OUTPUT SCREENS</a:t>
            </a:r>
            <a:endParaRPr lang="en-IN" dirty="0"/>
          </a:p>
        </p:txBody>
      </p:sp>
      <p:pic>
        <p:nvPicPr>
          <p:cNvPr id="5" name="Content Placeholder 4">
            <a:extLst>
              <a:ext uri="{FF2B5EF4-FFF2-40B4-BE49-F238E27FC236}">
                <a16:creationId xmlns:a16="http://schemas.microsoft.com/office/drawing/2014/main" id="{1623C77F-AECF-19F6-C085-7D352B116FB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22576" y="2184860"/>
            <a:ext cx="8205952" cy="3950143"/>
          </a:xfrm>
        </p:spPr>
      </p:pic>
    </p:spTree>
    <p:extLst>
      <p:ext uri="{BB962C8B-B14F-4D97-AF65-F5344CB8AC3E}">
        <p14:creationId xmlns:p14="http://schemas.microsoft.com/office/powerpoint/2010/main" val="2334735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97C0303C-D25D-3156-758E-B7C913AF45A6}"/>
              </a:ext>
            </a:extLst>
          </p:cNvPr>
          <p:cNvSpPr>
            <a:spLocks noChangeArrowheads="1"/>
          </p:cNvSpPr>
          <p:nvPr/>
        </p:nvSpPr>
        <p:spPr bwMode="auto">
          <a:xfrm>
            <a:off x="1046671" y="454260"/>
            <a:ext cx="10490179"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tx1"/>
                </a:solidFill>
                <a:effectLst/>
                <a:latin typeface="Arial" panose="020B0604020202020204" pitchFamily="34" charset="0"/>
              </a:rPr>
              <a:t>                    Future Enhancements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 Implement AI-Based Field Extraction (Store Name, Date, Total, Tax, Items)</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Develop Intelligent Expense Categorization using LLM models</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Add Multi-Page PDF Processing Support</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Improve OCR Accuracy using Deep Learning-based OCR engines</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Implement Confidence Scoring &amp; Auto-Correction Mechanism</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Build Structured Database Storage for Extracted Data</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Develop Expense Analytics Dashboard &amp; Visualization</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Add Receipt Search using Semantic Embeddings</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Enable Cloud Deployment &amp; Scalable Storage</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Develop Mobile Application Integration</a:t>
            </a:r>
          </a:p>
        </p:txBody>
      </p:sp>
    </p:spTree>
    <p:extLst>
      <p:ext uri="{BB962C8B-B14F-4D97-AF65-F5344CB8AC3E}">
        <p14:creationId xmlns:p14="http://schemas.microsoft.com/office/powerpoint/2010/main" val="32952877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F2DBC-587A-6BEB-F59C-6D34D8E31ABB}"/>
              </a:ext>
            </a:extLst>
          </p:cNvPr>
          <p:cNvSpPr>
            <a:spLocks noGrp="1"/>
          </p:cNvSpPr>
          <p:nvPr>
            <p:ph type="title"/>
          </p:nvPr>
        </p:nvSpPr>
        <p:spPr/>
        <p:txBody>
          <a:bodyPr/>
          <a:lstStyle/>
          <a:p>
            <a:r>
              <a:rPr lang="en-US" dirty="0"/>
              <a:t>FUTURE IMPROVEMENTS</a:t>
            </a:r>
            <a:endParaRPr lang="en-IN" dirty="0"/>
          </a:p>
        </p:txBody>
      </p:sp>
      <p:sp>
        <p:nvSpPr>
          <p:cNvPr id="3" name="Content Placeholder 2">
            <a:extLst>
              <a:ext uri="{FF2B5EF4-FFF2-40B4-BE49-F238E27FC236}">
                <a16:creationId xmlns:a16="http://schemas.microsoft.com/office/drawing/2014/main" id="{202A85DC-E357-CB2E-CB1F-59E119A6D9EB}"/>
              </a:ext>
            </a:extLst>
          </p:cNvPr>
          <p:cNvSpPr>
            <a:spLocks noGrp="1"/>
          </p:cNvSpPr>
          <p:nvPr>
            <p:ph idx="1"/>
          </p:nvPr>
        </p:nvSpPr>
        <p:spPr/>
        <p:txBody>
          <a:bodyPr/>
          <a:lstStyle/>
          <a:p>
            <a:r>
              <a:rPr lang="en-US" dirty="0"/>
              <a:t>Features be added:</a:t>
            </a:r>
          </a:p>
          <a:p>
            <a:r>
              <a:rPr lang="en-US" dirty="0"/>
              <a:t>1.Documents by Category #bar graph based on vendors</a:t>
            </a:r>
          </a:p>
          <a:p>
            <a:r>
              <a:rPr lang="en-US" dirty="0"/>
              <a:t>2.Search and download #based on vendors upload </a:t>
            </a:r>
            <a:r>
              <a:rPr lang="en-US" dirty="0" err="1"/>
              <a:t>moth,year</a:t>
            </a:r>
            <a:endParaRPr lang="en-US" dirty="0"/>
          </a:p>
          <a:p>
            <a:r>
              <a:rPr lang="en-US" dirty="0"/>
              <a:t>3.Location of the uploaded document #using geo location</a:t>
            </a:r>
          </a:p>
          <a:p>
            <a:r>
              <a:rPr lang="en-US" dirty="0"/>
              <a:t>4.Pie chart</a:t>
            </a:r>
          </a:p>
          <a:p>
            <a:r>
              <a:rPr lang="en-US" dirty="0"/>
              <a:t>5.Error handling in uploading document</a:t>
            </a:r>
          </a:p>
          <a:p>
            <a:r>
              <a:rPr lang="en-US" dirty="0"/>
              <a:t>6.Manually edit after extracted data</a:t>
            </a:r>
            <a:endParaRPr lang="en-IN" dirty="0"/>
          </a:p>
        </p:txBody>
      </p:sp>
    </p:spTree>
    <p:extLst>
      <p:ext uri="{BB962C8B-B14F-4D97-AF65-F5344CB8AC3E}">
        <p14:creationId xmlns:p14="http://schemas.microsoft.com/office/powerpoint/2010/main" val="28079834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46F07F83-592B-8B27-B104-0CC1D7FD58B3}"/>
              </a:ext>
            </a:extLst>
          </p:cNvPr>
          <p:cNvSpPr>
            <a:spLocks noChangeArrowheads="1"/>
          </p:cNvSpPr>
          <p:nvPr/>
        </p:nvSpPr>
        <p:spPr bwMode="auto">
          <a:xfrm>
            <a:off x="266507" y="-2952789"/>
            <a:ext cx="12422799" cy="85869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3600" b="1" dirty="0">
                <a:latin typeface="Arial" panose="020B0604020202020204" pitchFamily="34" charset="0"/>
              </a:rPr>
              <a:t>                                </a:t>
            </a:r>
            <a:r>
              <a:rPr kumimoji="0" lang="en-US" altLang="en-US" sz="3600" b="1" i="0" u="none" strike="noStrike" cap="none" normalizeH="0" baseline="0" dirty="0">
                <a:ln>
                  <a:noFill/>
                </a:ln>
                <a:solidFill>
                  <a:schemeClr val="tx1"/>
                </a:solidFill>
                <a:effectLst/>
                <a:latin typeface="Arial" panose="020B0604020202020204" pitchFamily="34" charset="0"/>
              </a:rPr>
              <a:t>Conclusion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Milestone-1 successfully establishes the frontend foundation of the application.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The project implements a responsive and user-friendly Login and Registration system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with proper input validation and error handling. Secure authentication mechanisms were integrated using password hashing and JSON Web Tokens (JWT) to ensure protected user access.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Google OAuth 2.0 authentication was also configured to enable third-party secure login functionality. Upon successful authentication, users are redirected to a structured dashboard interface.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This milestone ensures secure user authentication, clean UI design, and a scalable frontend architecture, forming the base for integrating advanced backend features and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AI-driven receipt processing in future milestones.</a:t>
            </a:r>
          </a:p>
        </p:txBody>
      </p:sp>
    </p:spTree>
    <p:extLst>
      <p:ext uri="{BB962C8B-B14F-4D97-AF65-F5344CB8AC3E}">
        <p14:creationId xmlns:p14="http://schemas.microsoft.com/office/powerpoint/2010/main" val="12508140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DA89F9-7B6C-2A47-0380-08B2319E39DD}"/>
              </a:ext>
            </a:extLst>
          </p:cNvPr>
          <p:cNvSpPr>
            <a:spLocks noGrp="1"/>
          </p:cNvSpPr>
          <p:nvPr>
            <p:ph type="title"/>
          </p:nvPr>
        </p:nvSpPr>
        <p:spPr/>
        <p:txBody>
          <a:bodyPr/>
          <a:lstStyle/>
          <a:p>
            <a:r>
              <a:rPr lang="en-US" dirty="0"/>
              <a:t>THANK YOU</a:t>
            </a:r>
            <a:endParaRPr lang="en-IN" dirty="0"/>
          </a:p>
        </p:txBody>
      </p:sp>
      <p:sp>
        <p:nvSpPr>
          <p:cNvPr id="5" name="Text Placeholder 4">
            <a:extLst>
              <a:ext uri="{FF2B5EF4-FFF2-40B4-BE49-F238E27FC236}">
                <a16:creationId xmlns:a16="http://schemas.microsoft.com/office/drawing/2014/main" id="{21A843A0-A581-0DB5-AD9C-980FA00BAB55}"/>
              </a:ext>
            </a:extLst>
          </p:cNvPr>
          <p:cNvSpPr>
            <a:spLocks noGrp="1"/>
          </p:cNvSpPr>
          <p:nvPr>
            <p:ph type="body" idx="1"/>
          </p:nvPr>
        </p:nvSpPr>
        <p:spPr/>
        <p:txBody>
          <a:bodyPr>
            <a:normAutofit/>
          </a:bodyPr>
          <a:lstStyle/>
          <a:p>
            <a:r>
              <a:rPr lang="en-US" sz="6000" b="1" dirty="0"/>
              <a:t>TEAM C</a:t>
            </a:r>
            <a:endParaRPr lang="en-IN" sz="6000" b="1" dirty="0"/>
          </a:p>
        </p:txBody>
      </p:sp>
    </p:spTree>
    <p:extLst>
      <p:ext uri="{BB962C8B-B14F-4D97-AF65-F5344CB8AC3E}">
        <p14:creationId xmlns:p14="http://schemas.microsoft.com/office/powerpoint/2010/main" val="6796885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785</Words>
  <Application>Microsoft Office PowerPoint</Application>
  <PresentationFormat>Widescreen</PresentationFormat>
  <Paragraphs>99</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    Reciept and Invoice Digitizer</vt:lpstr>
      <vt:lpstr>                             Abstract </vt:lpstr>
      <vt:lpstr>PowerPoint Presentation</vt:lpstr>
      <vt:lpstr>Tech stack </vt:lpstr>
      <vt:lpstr>            JWT Authentication </vt:lpstr>
      <vt:lpstr>PowerPoint Presentation</vt:lpstr>
      <vt:lpstr>PowerPoint Presentation</vt:lpstr>
      <vt:lpstr>OUTPUT SCREENS</vt:lpstr>
      <vt:lpstr>OUTPUT SCREENS</vt:lpstr>
      <vt:lpstr>OUTPUT SCREENS</vt:lpstr>
      <vt:lpstr>PowerPoint Presentation</vt:lpstr>
      <vt:lpstr>FUTURE IMPROVEMENTS</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Sarala Sai</dc:creator>
  <cp:lastModifiedBy>snehithasavula@outlook.com</cp:lastModifiedBy>
  <cp:revision>6</cp:revision>
  <dcterms:created xsi:type="dcterms:W3CDTF">2026-02-12T05:27:16Z</dcterms:created>
  <dcterms:modified xsi:type="dcterms:W3CDTF">2026-02-12T13:19:06Z</dcterms:modified>
</cp:coreProperties>
</file>